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 roundtripDataSignature="AMtx7mjvwnRGtHpMbeZ+DVwc7WWCIQZ6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52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2" name="Google Shape;10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6" name="Google Shape;11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0" name="Google Shape;130;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4" name="Google Shape;14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8" name="Google Shape;158;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72" name="Google Shape;172;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a:spLocks noGrp="1"/>
          </p:cNvSpPr>
          <p:nvPr>
            <p:ph type="pic" idx="2"/>
          </p:nvPr>
        </p:nvSpPr>
        <p:spPr>
          <a:xfrm>
            <a:off x="1792288" y="612775"/>
            <a:ext cx="5486400" cy="4114800"/>
          </a:xfrm>
          <a:prstGeom prst="rect">
            <a:avLst/>
          </a:prstGeom>
          <a:noFill/>
          <a:ln>
            <a:noFill/>
          </a:ln>
        </p:spPr>
      </p:sp>
      <p:sp>
        <p:nvSpPr>
          <p:cNvPr id="68" name="Google Shape;68;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0" y="0"/>
            <a:ext cx="91440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1000"/>
              <a:buFont typeface="Times New Roman"/>
              <a:buNone/>
            </a:pPr>
            <a:r>
              <a:rPr lang="en-US" sz="1000" b="1">
                <a:solidFill>
                  <a:srgbClr val="FF0000"/>
                </a:solidFill>
                <a:latin typeface="Times New Roman"/>
                <a:ea typeface="Times New Roman"/>
                <a:cs typeface="Times New Roman"/>
                <a:sym typeface="Times New Roman"/>
              </a:rPr>
              <a:t>||Jai Sri Gurudev ||</a:t>
            </a:r>
            <a:br>
              <a:rPr lang="en-US" sz="1000" b="1">
                <a:latin typeface="Times New Roman"/>
                <a:ea typeface="Times New Roman"/>
                <a:cs typeface="Times New Roman"/>
                <a:sym typeface="Times New Roman"/>
              </a:rPr>
            </a:br>
            <a:r>
              <a:rPr lang="en-US" sz="1000" b="1">
                <a:solidFill>
                  <a:srgbClr val="262626"/>
                </a:solidFill>
                <a:latin typeface="Times New Roman"/>
                <a:ea typeface="Times New Roman"/>
                <a:cs typeface="Times New Roman"/>
                <a:sym typeface="Times New Roman"/>
              </a:rPr>
              <a:t>Adichunchanagiri Shikshana Trust</a:t>
            </a:r>
            <a:r>
              <a:rPr lang="en-US" sz="800" b="1">
                <a:solidFill>
                  <a:srgbClr val="FF0000"/>
                </a:solidFill>
                <a:latin typeface="Times New Roman"/>
                <a:ea typeface="Times New Roman"/>
                <a:cs typeface="Times New Roman"/>
                <a:sym typeface="Times New Roman"/>
              </a:rPr>
              <a:t>(R.)</a:t>
            </a:r>
            <a:br>
              <a:rPr lang="en-US" sz="1000" b="1">
                <a:latin typeface="Times New Roman"/>
                <a:ea typeface="Times New Roman"/>
                <a:cs typeface="Times New Roman"/>
                <a:sym typeface="Times New Roman"/>
              </a:rPr>
            </a:br>
            <a:r>
              <a:rPr lang="en-US" sz="2000" b="1">
                <a:solidFill>
                  <a:srgbClr val="E36C09"/>
                </a:solidFill>
                <a:latin typeface="Times New Roman"/>
                <a:ea typeface="Times New Roman"/>
                <a:cs typeface="Times New Roman"/>
                <a:sym typeface="Times New Roman"/>
              </a:rPr>
              <a:t>SJC INSTITUTE OF TECHNOLOGY</a:t>
            </a:r>
            <a:br>
              <a:rPr lang="en-US" sz="1000" b="1">
                <a:solidFill>
                  <a:srgbClr val="E36C09"/>
                </a:solidFill>
                <a:latin typeface="Times New Roman"/>
                <a:ea typeface="Times New Roman"/>
                <a:cs typeface="Times New Roman"/>
                <a:sym typeface="Times New Roman"/>
              </a:rPr>
            </a:br>
            <a:r>
              <a:rPr lang="en-US" sz="1000" b="1">
                <a:solidFill>
                  <a:srgbClr val="262626"/>
                </a:solidFill>
                <a:latin typeface="Times New Roman"/>
                <a:ea typeface="Times New Roman"/>
                <a:cs typeface="Times New Roman"/>
                <a:sym typeface="Times New Roman"/>
              </a:rPr>
              <a:t>An Autonomous Institution under VTU from 2024-25</a:t>
            </a:r>
            <a:br>
              <a:rPr lang="en-US" sz="1000" b="1">
                <a:solidFill>
                  <a:srgbClr val="262626"/>
                </a:solidFill>
                <a:latin typeface="Times New Roman"/>
                <a:ea typeface="Times New Roman"/>
                <a:cs typeface="Times New Roman"/>
                <a:sym typeface="Times New Roman"/>
              </a:rPr>
            </a:br>
            <a:r>
              <a:rPr lang="en-US" sz="1000" b="1">
                <a:solidFill>
                  <a:srgbClr val="262626"/>
                </a:solidFill>
                <a:latin typeface="Times New Roman"/>
                <a:ea typeface="Times New Roman"/>
                <a:cs typeface="Times New Roman"/>
                <a:sym typeface="Times New Roman"/>
              </a:rPr>
              <a:t>AICTE Approved, Accredited by NBA(CSE,ISE,ECE,ME,CV,AE) NAAC with A+ grade, QS I-Gauge Gold rated </a:t>
            </a:r>
            <a:br>
              <a:rPr lang="en-US" sz="1000" b="1">
                <a:solidFill>
                  <a:srgbClr val="262626"/>
                </a:solidFill>
                <a:latin typeface="Times New Roman"/>
                <a:ea typeface="Times New Roman"/>
                <a:cs typeface="Times New Roman"/>
                <a:sym typeface="Times New Roman"/>
              </a:rPr>
            </a:br>
            <a:r>
              <a:rPr lang="en-US" sz="1000" b="1">
                <a:solidFill>
                  <a:srgbClr val="262626"/>
                </a:solidFill>
                <a:latin typeface="Times New Roman"/>
                <a:ea typeface="Times New Roman"/>
                <a:cs typeface="Times New Roman"/>
                <a:sym typeface="Times New Roman"/>
              </a:rPr>
              <a:t>P.B. No. 20, B.B. Road,</a:t>
            </a:r>
            <a:br>
              <a:rPr lang="en-US" sz="1000" b="1">
                <a:solidFill>
                  <a:srgbClr val="262626"/>
                </a:solidFill>
                <a:latin typeface="Times New Roman"/>
                <a:ea typeface="Times New Roman"/>
                <a:cs typeface="Times New Roman"/>
                <a:sym typeface="Times New Roman"/>
              </a:rPr>
            </a:br>
            <a:r>
              <a:rPr lang="en-US" sz="1000" b="1">
                <a:solidFill>
                  <a:srgbClr val="262626"/>
                </a:solidFill>
                <a:latin typeface="Times New Roman"/>
                <a:ea typeface="Times New Roman"/>
                <a:cs typeface="Times New Roman"/>
                <a:sym typeface="Times New Roman"/>
              </a:rPr>
              <a:t>Chikkaballapur- 562101, Karnataka.</a:t>
            </a:r>
            <a:br>
              <a:rPr lang="en-US" sz="1000" b="1">
                <a:latin typeface="Times New Roman"/>
                <a:ea typeface="Times New Roman"/>
                <a:cs typeface="Times New Roman"/>
                <a:sym typeface="Times New Roman"/>
              </a:rPr>
            </a:br>
            <a:endParaRPr sz="1000"/>
          </a:p>
        </p:txBody>
      </p:sp>
      <p:sp>
        <p:nvSpPr>
          <p:cNvPr id="90" name="Google Shape;90;p1"/>
          <p:cNvSpPr txBox="1">
            <a:spLocks noGrp="1"/>
          </p:cNvSpPr>
          <p:nvPr>
            <p:ph type="subTitle" idx="1"/>
          </p:nvPr>
        </p:nvSpPr>
        <p:spPr>
          <a:xfrm>
            <a:off x="0" y="1500174"/>
            <a:ext cx="9144000" cy="464347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Clr>
                <a:srgbClr val="888888"/>
              </a:buClr>
              <a:buSzPts val="3500"/>
              <a:buNone/>
            </a:pPr>
            <a:endParaRPr sz="3500" b="1" dirty="0">
              <a:solidFill>
                <a:srgbClr val="595959"/>
              </a:solidFill>
              <a:latin typeface="Times New Roman"/>
              <a:ea typeface="Times New Roman"/>
              <a:cs typeface="Times New Roman"/>
              <a:sym typeface="Times New Roman"/>
            </a:endParaRPr>
          </a:p>
          <a:p>
            <a:pPr marL="0" lvl="0" indent="0" algn="ctr" rtl="0">
              <a:spcBef>
                <a:spcPts val="647"/>
              </a:spcBef>
              <a:spcAft>
                <a:spcPts val="0"/>
              </a:spcAft>
              <a:buClr>
                <a:srgbClr val="595959"/>
              </a:buClr>
              <a:buSzPts val="3500"/>
              <a:buNone/>
            </a:pPr>
            <a:r>
              <a:rPr lang="en-US" sz="3500" b="1" dirty="0">
                <a:solidFill>
                  <a:srgbClr val="595959"/>
                </a:solidFill>
                <a:latin typeface="Times New Roman"/>
                <a:ea typeface="Times New Roman"/>
                <a:cs typeface="Times New Roman"/>
                <a:sym typeface="Times New Roman"/>
              </a:rPr>
              <a:t>Project- BCI685</a:t>
            </a:r>
            <a:endParaRPr dirty="0">
              <a:latin typeface="Times New Roman"/>
              <a:ea typeface="Times New Roman"/>
              <a:cs typeface="Times New Roman"/>
              <a:sym typeface="Times New Roman"/>
            </a:endParaRPr>
          </a:p>
          <a:p>
            <a:pPr marL="0" lvl="0" indent="0" algn="ctr" rtl="0">
              <a:spcBef>
                <a:spcPts val="647"/>
              </a:spcBef>
              <a:spcAft>
                <a:spcPts val="0"/>
              </a:spcAft>
              <a:buClr>
                <a:srgbClr val="595959"/>
              </a:buClr>
              <a:buSzPts val="3500"/>
              <a:buNone/>
            </a:pPr>
            <a:r>
              <a:rPr lang="en-US" sz="3500" b="1" dirty="0">
                <a:solidFill>
                  <a:srgbClr val="595959"/>
                </a:solidFill>
                <a:latin typeface="Times New Roman"/>
                <a:ea typeface="Times New Roman"/>
                <a:cs typeface="Times New Roman"/>
                <a:sym typeface="Times New Roman"/>
              </a:rPr>
              <a:t>On  </a:t>
            </a:r>
            <a:endParaRPr b="1" dirty="0">
              <a:solidFill>
                <a:srgbClr val="3333CC"/>
              </a:solidFill>
              <a:latin typeface="Times New Roman"/>
              <a:ea typeface="Times New Roman"/>
              <a:cs typeface="Times New Roman"/>
              <a:sym typeface="Times New Roman"/>
            </a:endParaRPr>
          </a:p>
          <a:p>
            <a:pPr marL="0" lvl="0" indent="0" algn="ctr" rtl="0">
              <a:spcBef>
                <a:spcPts val="592"/>
              </a:spcBef>
              <a:spcAft>
                <a:spcPts val="0"/>
              </a:spcAft>
              <a:buClr>
                <a:srgbClr val="3333CC"/>
              </a:buClr>
              <a:buSzPts val="3200"/>
              <a:buNone/>
            </a:pPr>
            <a:r>
              <a:rPr lang="en-US" sz="3400" b="1" dirty="0">
                <a:solidFill>
                  <a:srgbClr val="3333CC"/>
                </a:solidFill>
                <a:latin typeface="Times New Roman"/>
                <a:ea typeface="Times New Roman"/>
                <a:cs typeface="Times New Roman"/>
                <a:sym typeface="Times New Roman"/>
              </a:rPr>
              <a:t>“</a:t>
            </a:r>
            <a:r>
              <a:rPr lang="en-US" sz="3400" dirty="0">
                <a:solidFill>
                  <a:schemeClr val="dk1"/>
                </a:solidFill>
                <a:latin typeface="Times New Roman"/>
                <a:ea typeface="Times New Roman"/>
                <a:cs typeface="Times New Roman"/>
                <a:sym typeface="Times New Roman"/>
              </a:rPr>
              <a:t>AI-Powered Touchless Shopping Basket </a:t>
            </a:r>
            <a:r>
              <a:rPr lang="en-US" sz="3400" b="1" dirty="0">
                <a:solidFill>
                  <a:srgbClr val="3333CC"/>
                </a:solidFill>
                <a:latin typeface="Times New Roman"/>
                <a:ea typeface="Times New Roman"/>
                <a:cs typeface="Times New Roman"/>
                <a:sym typeface="Times New Roman"/>
              </a:rPr>
              <a:t>”</a:t>
            </a:r>
            <a:endParaRPr sz="3400" dirty="0">
              <a:solidFill>
                <a:schemeClr val="dk1"/>
              </a:solidFill>
              <a:latin typeface="Times New Roman"/>
              <a:ea typeface="Times New Roman"/>
              <a:cs typeface="Times New Roman"/>
              <a:sym typeface="Times New Roman"/>
            </a:endParaRPr>
          </a:p>
          <a:p>
            <a:pPr marL="0" lvl="0" indent="0" algn="ctr" rtl="0">
              <a:spcBef>
                <a:spcPts val="407"/>
              </a:spcBef>
              <a:spcAft>
                <a:spcPts val="0"/>
              </a:spcAft>
              <a:buClr>
                <a:srgbClr val="888888"/>
              </a:buClr>
              <a:buSzPts val="2200"/>
              <a:buNone/>
            </a:pPr>
            <a:r>
              <a:rPr lang="en-US" sz="2200"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0" lvl="0" indent="0" algn="l" rtl="0">
              <a:lnSpc>
                <a:spcPct val="160000"/>
              </a:lnSpc>
              <a:spcBef>
                <a:spcPts val="0"/>
              </a:spcBef>
              <a:spcAft>
                <a:spcPts val="0"/>
              </a:spcAft>
              <a:buClr>
                <a:schemeClr val="accent2"/>
              </a:buClr>
              <a:buSzPts val="1946"/>
              <a:buNone/>
            </a:pPr>
            <a:r>
              <a:rPr lang="en-US" sz="2200" b="1" i="0" u="none" strike="noStrike" cap="none" dirty="0">
                <a:solidFill>
                  <a:schemeClr val="accent2"/>
                </a:solidFill>
                <a:latin typeface="Times New Roman"/>
                <a:ea typeface="Times New Roman"/>
                <a:cs typeface="Times New Roman"/>
                <a:sym typeface="Times New Roman"/>
              </a:rPr>
              <a:t>Presented by:</a:t>
            </a:r>
            <a:endParaRPr sz="2200" b="1" i="0" u="none" strike="noStrike" cap="none" dirty="0">
              <a:solidFill>
                <a:schemeClr val="dk1"/>
              </a:solidFill>
              <a:latin typeface="Times New Roman"/>
              <a:ea typeface="Times New Roman"/>
              <a:cs typeface="Times New Roman"/>
              <a:sym typeface="Times New Roman"/>
            </a:endParaRPr>
          </a:p>
          <a:p>
            <a:pPr marL="0" lvl="0" indent="0" algn="l" rtl="0">
              <a:lnSpc>
                <a:spcPct val="120000"/>
              </a:lnSpc>
              <a:spcBef>
                <a:spcPts val="0"/>
              </a:spcBef>
              <a:spcAft>
                <a:spcPts val="0"/>
              </a:spcAft>
              <a:buClr>
                <a:schemeClr val="accent2"/>
              </a:buClr>
              <a:buSzPts val="1946"/>
              <a:buNone/>
            </a:pPr>
            <a:r>
              <a:rPr lang="en-US" sz="1800" b="1" dirty="0">
                <a:solidFill>
                  <a:schemeClr val="accent2"/>
                </a:solidFill>
                <a:latin typeface="Times New Roman"/>
                <a:ea typeface="Times New Roman"/>
                <a:cs typeface="Times New Roman"/>
                <a:sym typeface="Times New Roman"/>
              </a:rPr>
              <a:t>PRIYANSHU KUMAR 	        </a:t>
            </a:r>
            <a:r>
              <a:rPr lang="en-US" sz="1800" b="1" i="0" u="none" strike="noStrike" cap="none" dirty="0">
                <a:solidFill>
                  <a:schemeClr val="accent2"/>
                </a:solidFill>
                <a:latin typeface="Times New Roman"/>
                <a:ea typeface="Times New Roman"/>
                <a:cs typeface="Times New Roman"/>
                <a:sym typeface="Times New Roman"/>
              </a:rPr>
              <a:t>1SJ</a:t>
            </a:r>
            <a:r>
              <a:rPr lang="en-US" sz="1800" b="1" dirty="0">
                <a:solidFill>
                  <a:schemeClr val="accent2"/>
                </a:solidFill>
                <a:latin typeface="Times New Roman"/>
                <a:ea typeface="Times New Roman"/>
                <a:cs typeface="Times New Roman"/>
                <a:sym typeface="Times New Roman"/>
              </a:rPr>
              <a:t>22CI040   </a:t>
            </a:r>
            <a:endParaRPr sz="1800" b="1" dirty="0">
              <a:solidFill>
                <a:schemeClr val="dk1"/>
              </a:solidFill>
              <a:latin typeface="Times New Roman"/>
              <a:ea typeface="Times New Roman"/>
              <a:cs typeface="Times New Roman"/>
              <a:sym typeface="Times New Roman"/>
            </a:endParaRPr>
          </a:p>
          <a:p>
            <a:pPr marL="0" lvl="0" indent="0" algn="l" rtl="0">
              <a:lnSpc>
                <a:spcPct val="120000"/>
              </a:lnSpc>
              <a:spcBef>
                <a:spcPts val="0"/>
              </a:spcBef>
              <a:spcAft>
                <a:spcPts val="0"/>
              </a:spcAft>
              <a:buClr>
                <a:schemeClr val="accent2"/>
              </a:buClr>
              <a:buSzPts val="1946"/>
              <a:buNone/>
            </a:pPr>
            <a:r>
              <a:rPr lang="en-US" sz="1800" b="1" dirty="0">
                <a:solidFill>
                  <a:schemeClr val="accent2"/>
                </a:solidFill>
                <a:latin typeface="Times New Roman"/>
                <a:ea typeface="Times New Roman"/>
                <a:cs typeface="Times New Roman"/>
                <a:sym typeface="Times New Roman"/>
              </a:rPr>
              <a:t>PUSHPAK </a:t>
            </a:r>
            <a:r>
              <a:rPr lang="en-US" sz="1800" b="1" i="0" u="none" strike="noStrike" cap="none" dirty="0">
                <a:solidFill>
                  <a:schemeClr val="accent2"/>
                </a:solidFill>
                <a:latin typeface="Times New Roman"/>
                <a:ea typeface="Times New Roman"/>
                <a:cs typeface="Times New Roman"/>
                <a:sym typeface="Times New Roman"/>
              </a:rPr>
              <a:t>                                    1SJ</a:t>
            </a:r>
            <a:r>
              <a:rPr lang="en-US" sz="1800" b="1" dirty="0">
                <a:solidFill>
                  <a:schemeClr val="accent2"/>
                </a:solidFill>
                <a:latin typeface="Times New Roman"/>
                <a:ea typeface="Times New Roman"/>
                <a:cs typeface="Times New Roman"/>
                <a:sym typeface="Times New Roman"/>
              </a:rPr>
              <a:t>22CI042</a:t>
            </a:r>
            <a:endParaRPr dirty="0">
              <a:latin typeface="Times New Roman"/>
              <a:ea typeface="Times New Roman"/>
              <a:cs typeface="Times New Roman"/>
              <a:sym typeface="Times New Roman"/>
            </a:endParaRPr>
          </a:p>
          <a:p>
            <a:pPr marL="0" lvl="0" indent="0" algn="l" rtl="0">
              <a:lnSpc>
                <a:spcPct val="120000"/>
              </a:lnSpc>
              <a:spcBef>
                <a:spcPts val="0"/>
              </a:spcBef>
              <a:spcAft>
                <a:spcPts val="0"/>
              </a:spcAft>
              <a:buClr>
                <a:schemeClr val="accent2"/>
              </a:buClr>
              <a:buSzPts val="1946"/>
              <a:buNone/>
            </a:pPr>
            <a:r>
              <a:rPr lang="en-US" sz="1800" b="1" dirty="0">
                <a:solidFill>
                  <a:schemeClr val="accent2"/>
                </a:solidFill>
                <a:latin typeface="Times New Roman"/>
                <a:ea typeface="Times New Roman"/>
                <a:cs typeface="Times New Roman"/>
                <a:sym typeface="Times New Roman"/>
              </a:rPr>
              <a:t>RAJATH K M		        </a:t>
            </a:r>
            <a:r>
              <a:rPr lang="en-US" sz="1800" b="1" i="0" u="none" strike="noStrike" cap="none" dirty="0">
                <a:solidFill>
                  <a:schemeClr val="accent2"/>
                </a:solidFill>
                <a:latin typeface="Times New Roman"/>
                <a:ea typeface="Times New Roman"/>
                <a:cs typeface="Times New Roman"/>
                <a:sym typeface="Times New Roman"/>
              </a:rPr>
              <a:t>1SJ</a:t>
            </a:r>
            <a:r>
              <a:rPr lang="en-US" sz="1800" b="1" dirty="0">
                <a:solidFill>
                  <a:schemeClr val="accent2"/>
                </a:solidFill>
                <a:latin typeface="Times New Roman"/>
                <a:ea typeface="Times New Roman"/>
                <a:cs typeface="Times New Roman"/>
                <a:sym typeface="Times New Roman"/>
              </a:rPr>
              <a:t>22CI044 	</a:t>
            </a:r>
            <a:endParaRPr sz="1800" b="1" dirty="0">
              <a:solidFill>
                <a:schemeClr val="dk1"/>
              </a:solidFill>
              <a:latin typeface="Times New Roman"/>
              <a:ea typeface="Times New Roman"/>
              <a:cs typeface="Times New Roman"/>
              <a:sym typeface="Times New Roman"/>
            </a:endParaRPr>
          </a:p>
          <a:p>
            <a:pPr marL="0" lvl="0" indent="0" algn="l" rtl="0">
              <a:lnSpc>
                <a:spcPct val="120000"/>
              </a:lnSpc>
              <a:spcBef>
                <a:spcPts val="0"/>
              </a:spcBef>
              <a:spcAft>
                <a:spcPts val="0"/>
              </a:spcAft>
              <a:buClr>
                <a:schemeClr val="accent2"/>
              </a:buClr>
              <a:buSzPts val="1946"/>
              <a:buNone/>
            </a:pPr>
            <a:r>
              <a:rPr lang="en-US" sz="1800" b="1" dirty="0">
                <a:solidFill>
                  <a:schemeClr val="accent2"/>
                </a:solidFill>
                <a:latin typeface="Times New Roman"/>
                <a:ea typeface="Times New Roman"/>
                <a:cs typeface="Times New Roman"/>
                <a:sym typeface="Times New Roman"/>
              </a:rPr>
              <a:t>TRUPTI GARWAD</a:t>
            </a:r>
            <a:r>
              <a:rPr lang="en-US" sz="1800" b="1" i="0" u="none" strike="noStrike" cap="none" dirty="0">
                <a:solidFill>
                  <a:schemeClr val="accent2"/>
                </a:solidFill>
                <a:latin typeface="Times New Roman"/>
                <a:ea typeface="Times New Roman"/>
                <a:cs typeface="Times New Roman"/>
                <a:sym typeface="Times New Roman"/>
              </a:rPr>
              <a:t>	        </a:t>
            </a:r>
            <a:r>
              <a:rPr lang="en-US" sz="1800" b="1" dirty="0">
                <a:solidFill>
                  <a:schemeClr val="accent2"/>
                </a:solidFill>
                <a:latin typeface="Times New Roman"/>
                <a:ea typeface="Times New Roman"/>
                <a:cs typeface="Times New Roman"/>
                <a:sym typeface="Times New Roman"/>
              </a:rPr>
              <a:t>1SJ22CI057</a:t>
            </a:r>
            <a:endParaRPr sz="1800" dirty="0">
              <a:solidFill>
                <a:schemeClr val="dk1"/>
              </a:solidFill>
              <a:latin typeface="Times New Roman"/>
              <a:ea typeface="Times New Roman"/>
              <a:cs typeface="Times New Roman"/>
              <a:sym typeface="Times New Roman"/>
            </a:endParaRPr>
          </a:p>
          <a:p>
            <a:pPr marL="0" lvl="0" indent="0" algn="l" rtl="0">
              <a:lnSpc>
                <a:spcPct val="70000"/>
              </a:lnSpc>
              <a:spcBef>
                <a:spcPts val="0"/>
              </a:spcBef>
              <a:spcAft>
                <a:spcPts val="0"/>
              </a:spcAft>
              <a:buClr>
                <a:srgbClr val="953590"/>
              </a:buClr>
              <a:buSzPts val="1946"/>
              <a:buNone/>
            </a:pPr>
            <a:r>
              <a:rPr lang="en-US" sz="1800" b="1" i="0" u="none" strike="noStrike" cap="none" dirty="0">
                <a:solidFill>
                  <a:srgbClr val="953590"/>
                </a:solidFill>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pic>
        <p:nvPicPr>
          <p:cNvPr id="91" name="Google Shape;91;p1" descr="C:\Users\welco_koih58\OneDrive\Desktop\download.jpg"/>
          <p:cNvPicPr preferRelativeResize="0"/>
          <p:nvPr/>
        </p:nvPicPr>
        <p:blipFill rotWithShape="1">
          <a:blip r:embed="rId3">
            <a:alphaModFix/>
          </a:blip>
          <a:srcRect/>
          <a:stretch/>
        </p:blipFill>
        <p:spPr>
          <a:xfrm>
            <a:off x="142844" y="214290"/>
            <a:ext cx="1285884" cy="1071570"/>
          </a:xfrm>
          <a:prstGeom prst="rect">
            <a:avLst/>
          </a:prstGeom>
          <a:noFill/>
          <a:ln>
            <a:noFill/>
          </a:ln>
        </p:spPr>
      </p:pic>
      <p:cxnSp>
        <p:nvCxnSpPr>
          <p:cNvPr id="92" name="Google Shape;92;p1"/>
          <p:cNvCxnSpPr/>
          <p:nvPr/>
        </p:nvCxnSpPr>
        <p:spPr>
          <a:xfrm>
            <a:off x="0" y="150017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93" name="Google Shape;93;p1"/>
          <p:cNvCxnSpPr/>
          <p:nvPr/>
        </p:nvCxnSpPr>
        <p:spPr>
          <a:xfrm>
            <a:off x="0" y="614364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sp>
        <p:nvSpPr>
          <p:cNvPr id="94" name="Google Shape;94;p1"/>
          <p:cNvSpPr txBox="1"/>
          <p:nvPr/>
        </p:nvSpPr>
        <p:spPr>
          <a:xfrm>
            <a:off x="5723774" y="3355974"/>
            <a:ext cx="3500400" cy="300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dirty="0">
              <a:solidFill>
                <a:srgbClr val="953590"/>
              </a:solidFill>
              <a:latin typeface="Times New Roman"/>
              <a:ea typeface="Times New Roman"/>
              <a:cs typeface="Times New Roman"/>
              <a:sym typeface="Times New Roman"/>
            </a:endParaRPr>
          </a:p>
          <a:p>
            <a:pPr marL="0" marR="0" lvl="0" indent="0" algn="l" rtl="0">
              <a:spcBef>
                <a:spcPts val="0"/>
              </a:spcBef>
              <a:spcAft>
                <a:spcPts val="0"/>
              </a:spcAft>
              <a:buNone/>
            </a:pPr>
            <a:endParaRPr sz="1800" b="1" i="0" u="none" strike="noStrike" cap="none" dirty="0">
              <a:solidFill>
                <a:srgbClr val="953590"/>
              </a:solidFill>
              <a:latin typeface="Times New Roman"/>
              <a:ea typeface="Times New Roman"/>
              <a:cs typeface="Times New Roman"/>
              <a:sym typeface="Times New Roman"/>
            </a:endParaRPr>
          </a:p>
          <a:p>
            <a:pPr marL="0" marR="0" lvl="0" indent="0" algn="l" rtl="0">
              <a:spcBef>
                <a:spcPts val="0"/>
              </a:spcBef>
              <a:spcAft>
                <a:spcPts val="0"/>
              </a:spcAft>
              <a:buNone/>
            </a:pPr>
            <a:endParaRPr sz="1800" b="1" i="0" u="none" strike="noStrike" cap="none" dirty="0">
              <a:solidFill>
                <a:srgbClr val="953590"/>
              </a:solidFill>
              <a:latin typeface="Times New Roman"/>
              <a:ea typeface="Times New Roman"/>
              <a:cs typeface="Times New Roman"/>
              <a:sym typeface="Times New Roman"/>
            </a:endParaRPr>
          </a:p>
          <a:p>
            <a:pPr marL="0" marR="0" lvl="0" indent="0" algn="l" rtl="0">
              <a:spcBef>
                <a:spcPts val="0"/>
              </a:spcBef>
              <a:spcAft>
                <a:spcPts val="0"/>
              </a:spcAft>
              <a:buNone/>
            </a:pPr>
            <a:endParaRPr sz="1800" b="1" i="0" u="none" strike="noStrike" cap="none" dirty="0">
              <a:solidFill>
                <a:srgbClr val="95359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800" b="1" i="0" u="none" strike="noStrike" cap="none" dirty="0">
                <a:solidFill>
                  <a:srgbClr val="953590"/>
                </a:solidFill>
                <a:latin typeface="Times New Roman"/>
                <a:ea typeface="Times New Roman"/>
                <a:cs typeface="Times New Roman"/>
                <a:sym typeface="Times New Roman"/>
              </a:rPr>
              <a:t>Under the guidance of :</a:t>
            </a:r>
            <a:endParaRPr sz="18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err="1">
                <a:solidFill>
                  <a:srgbClr val="953590"/>
                </a:solidFill>
                <a:latin typeface="Times New Roman"/>
                <a:ea typeface="Times New Roman"/>
                <a:cs typeface="Times New Roman"/>
                <a:sym typeface="Times New Roman"/>
              </a:rPr>
              <a:t>Dr.VIKAS</a:t>
            </a:r>
            <a:r>
              <a:rPr lang="en-US" sz="1800" b="1" dirty="0">
                <a:solidFill>
                  <a:srgbClr val="953590"/>
                </a:solidFill>
                <a:latin typeface="Times New Roman"/>
                <a:ea typeface="Times New Roman"/>
                <a:cs typeface="Times New Roman"/>
                <a:sym typeface="Times New Roman"/>
              </a:rPr>
              <a:t> REDDY S</a:t>
            </a:r>
            <a:endParaRPr dirty="0"/>
          </a:p>
          <a:p>
            <a:pPr marL="0" marR="0" lvl="0" indent="0" algn="l" rtl="0">
              <a:spcBef>
                <a:spcPts val="0"/>
              </a:spcBef>
              <a:spcAft>
                <a:spcPts val="0"/>
              </a:spcAft>
              <a:buNone/>
            </a:pPr>
            <a:r>
              <a:rPr lang="en-US" sz="1800" b="1" i="0" u="none" strike="noStrike" cap="none" dirty="0">
                <a:solidFill>
                  <a:srgbClr val="953590"/>
                </a:solidFill>
                <a:latin typeface="Times New Roman"/>
                <a:ea typeface="Times New Roman"/>
                <a:cs typeface="Times New Roman"/>
                <a:sym typeface="Times New Roman"/>
              </a:rPr>
              <a:t>Associate Professor</a:t>
            </a:r>
            <a:endParaRPr sz="18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i="0" u="none" strike="noStrike" cap="none" dirty="0">
                <a:solidFill>
                  <a:srgbClr val="953590"/>
                </a:solidFill>
                <a:latin typeface="Times New Roman"/>
                <a:ea typeface="Times New Roman"/>
                <a:cs typeface="Times New Roman"/>
                <a:sym typeface="Times New Roman"/>
              </a:rPr>
              <a:t>Dept. of AI &amp; ML, SJCIT</a:t>
            </a:r>
            <a:endParaRPr sz="18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b="1" i="0" u="none" strike="noStrike" cap="none" dirty="0">
              <a:solidFill>
                <a:srgbClr val="953590"/>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95" name="Google Shape;95;p1" descr="Home - Information Science and Engineering"/>
          <p:cNvPicPr preferRelativeResize="0"/>
          <p:nvPr/>
        </p:nvPicPr>
        <p:blipFill rotWithShape="1">
          <a:blip r:embed="rId4">
            <a:alphaModFix/>
          </a:blip>
          <a:srcRect/>
          <a:stretch/>
        </p:blipFill>
        <p:spPr>
          <a:xfrm>
            <a:off x="7929586" y="285728"/>
            <a:ext cx="1071570" cy="1000132"/>
          </a:xfrm>
          <a:prstGeom prst="rect">
            <a:avLst/>
          </a:prstGeom>
          <a:noFill/>
          <a:ln>
            <a:noFill/>
          </a:ln>
        </p:spPr>
      </p:pic>
      <p:pic>
        <p:nvPicPr>
          <p:cNvPr id="96" name="Google Shape;96;p1" descr="C:\Users\welco_koih58\Downloads\WhatsApp Image 2024-11-12 at 9.06.30 AM.jpeg"/>
          <p:cNvPicPr preferRelativeResize="0"/>
          <p:nvPr/>
        </p:nvPicPr>
        <p:blipFill rotWithShape="1">
          <a:blip r:embed="rId5">
            <a:alphaModFix/>
          </a:blip>
          <a:srcRect/>
          <a:stretch/>
        </p:blipFill>
        <p:spPr>
          <a:xfrm>
            <a:off x="8072462" y="1928802"/>
            <a:ext cx="1071538" cy="1000132"/>
          </a:xfrm>
          <a:prstGeom prst="rect">
            <a:avLst/>
          </a:prstGeom>
          <a:noFill/>
          <a:ln>
            <a:noFill/>
          </a:ln>
        </p:spPr>
      </p:pic>
      <p:sp>
        <p:nvSpPr>
          <p:cNvPr id="97" name="Google Shape;97;p1"/>
          <p:cNvSpPr txBox="1"/>
          <p:nvPr/>
        </p:nvSpPr>
        <p:spPr>
          <a:xfrm>
            <a:off x="357158" y="1571612"/>
            <a:ext cx="878684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31859B"/>
                </a:solidFill>
                <a:latin typeface="Times New Roman"/>
                <a:ea typeface="Times New Roman"/>
                <a:cs typeface="Times New Roman"/>
                <a:sym typeface="Times New Roman"/>
              </a:rPr>
              <a:t>DEPARTMENT OF ARTIFICIAL INTELLIGENCE &amp; MACHINE LEARNING</a:t>
            </a:r>
            <a:endParaRPr sz="1800" b="1">
              <a:solidFill>
                <a:srgbClr val="31859B"/>
              </a:solidFill>
              <a:latin typeface="Calibri"/>
              <a:ea typeface="Calibri"/>
              <a:cs typeface="Calibri"/>
              <a:sym typeface="Calibri"/>
            </a:endParaRPr>
          </a:p>
        </p:txBody>
      </p:sp>
      <p:sp>
        <p:nvSpPr>
          <p:cNvPr id="98" name="Google Shape;98;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ctrTitle"/>
          </p:nvPr>
        </p:nvSpPr>
        <p:spPr>
          <a:xfrm>
            <a:off x="0" y="0"/>
            <a:ext cx="91440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05" name="Google Shape;105;p2"/>
          <p:cNvSpPr txBox="1">
            <a:spLocks noGrp="1"/>
          </p:cNvSpPr>
          <p:nvPr>
            <p:ph type="subTitle" idx="1"/>
          </p:nvPr>
        </p:nvSpPr>
        <p:spPr>
          <a:xfrm>
            <a:off x="0" y="1285860"/>
            <a:ext cx="9144000" cy="464347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600"/>
              <a:buFont typeface="Arial"/>
              <a:buChar char="•"/>
            </a:pPr>
            <a:r>
              <a:rPr lang="en-US" sz="2400">
                <a:solidFill>
                  <a:schemeClr val="dk1"/>
                </a:solidFill>
                <a:latin typeface="Times New Roman"/>
                <a:ea typeface="Times New Roman"/>
                <a:cs typeface="Times New Roman"/>
                <a:sym typeface="Times New Roman"/>
              </a:rPr>
              <a:t>Introduction</a:t>
            </a:r>
            <a:endParaRPr/>
          </a:p>
          <a:p>
            <a:pPr marL="0" lvl="0" indent="0" algn="l" rtl="0">
              <a:lnSpc>
                <a:spcPct val="150000"/>
              </a:lnSpc>
              <a:spcBef>
                <a:spcPts val="0"/>
              </a:spcBef>
              <a:spcAft>
                <a:spcPts val="0"/>
              </a:spcAft>
              <a:buClr>
                <a:schemeClr val="dk1"/>
              </a:buClr>
              <a:buSzPts val="2600"/>
              <a:buFont typeface="Arial"/>
              <a:buChar char="•"/>
            </a:pPr>
            <a:r>
              <a:rPr lang="en-US" sz="2400">
                <a:solidFill>
                  <a:schemeClr val="dk1"/>
                </a:solidFill>
                <a:latin typeface="Times New Roman"/>
                <a:ea typeface="Times New Roman"/>
                <a:cs typeface="Times New Roman"/>
                <a:sym typeface="Times New Roman"/>
              </a:rPr>
              <a:t>Abstract</a:t>
            </a:r>
            <a:endParaRPr sz="2400">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2600"/>
              <a:buFont typeface="Arial"/>
              <a:buChar char="•"/>
            </a:pPr>
            <a:r>
              <a:rPr lang="en-US" sz="2400">
                <a:solidFill>
                  <a:schemeClr val="dk1"/>
                </a:solidFill>
                <a:latin typeface="Times New Roman"/>
                <a:ea typeface="Times New Roman"/>
                <a:cs typeface="Times New Roman"/>
                <a:sym typeface="Times New Roman"/>
              </a:rPr>
              <a:t> Problem statement </a:t>
            </a:r>
            <a:endParaRPr sz="2400">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2600"/>
              <a:buFont typeface="Arial"/>
              <a:buChar char="•"/>
            </a:pPr>
            <a:r>
              <a:rPr lang="en-US" sz="2400">
                <a:solidFill>
                  <a:schemeClr val="dk1"/>
                </a:solidFill>
                <a:latin typeface="Times New Roman"/>
                <a:ea typeface="Times New Roman"/>
                <a:cs typeface="Times New Roman"/>
                <a:sym typeface="Times New Roman"/>
              </a:rPr>
              <a:t>Objective</a:t>
            </a:r>
            <a:endParaRPr sz="2400">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2600"/>
              <a:buFont typeface="Arial"/>
              <a:buChar char="•"/>
            </a:pPr>
            <a:r>
              <a:rPr lang="en-US" sz="2400">
                <a:solidFill>
                  <a:schemeClr val="dk1"/>
                </a:solidFill>
                <a:latin typeface="Times New Roman"/>
                <a:ea typeface="Times New Roman"/>
                <a:cs typeface="Times New Roman"/>
                <a:sym typeface="Times New Roman"/>
              </a:rPr>
              <a:t>Methodology</a:t>
            </a:r>
            <a:endParaRPr sz="2400">
              <a:latin typeface="Times New Roman"/>
              <a:ea typeface="Times New Roman"/>
              <a:cs typeface="Times New Roman"/>
              <a:sym typeface="Times New Roman"/>
            </a:endParaRPr>
          </a:p>
          <a:p>
            <a:pPr marL="0" lvl="0" indent="0" algn="l" rtl="0">
              <a:lnSpc>
                <a:spcPct val="70000"/>
              </a:lnSpc>
              <a:spcBef>
                <a:spcPts val="0"/>
              </a:spcBef>
              <a:spcAft>
                <a:spcPts val="0"/>
              </a:spcAft>
              <a:buClr>
                <a:srgbClr val="953590"/>
              </a:buClr>
              <a:buSzPts val="1800"/>
              <a:buNone/>
            </a:pPr>
            <a:r>
              <a:rPr lang="en-US" sz="1800" b="1" i="0" u="none" strike="noStrike" cap="none">
                <a:solidFill>
                  <a:srgbClr val="953590"/>
                </a:solidFill>
                <a:latin typeface="Times New Roman"/>
                <a:ea typeface="Times New Roman"/>
                <a:cs typeface="Times New Roman"/>
                <a:sym typeface="Times New Roman"/>
              </a:rPr>
              <a:t>						</a:t>
            </a:r>
            <a:endParaRPr/>
          </a:p>
        </p:txBody>
      </p:sp>
      <p:pic>
        <p:nvPicPr>
          <p:cNvPr id="106" name="Google Shape;106;p2"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07" name="Google Shape;107;p2"/>
          <p:cNvCxnSpPr/>
          <p:nvPr/>
        </p:nvCxnSpPr>
        <p:spPr>
          <a:xfrm>
            <a:off x="0" y="114298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08" name="Google Shape;108;p2"/>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09" name="Google Shape;109;p2"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10" name="Google Shape;110;p2"/>
          <p:cNvSpPr txBox="1"/>
          <p:nvPr/>
        </p:nvSpPr>
        <p:spPr>
          <a:xfrm>
            <a:off x="1857356" y="285728"/>
            <a:ext cx="564360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rgbClr val="31859B"/>
                </a:solidFill>
                <a:latin typeface="Times New Roman"/>
                <a:ea typeface="Times New Roman"/>
                <a:cs typeface="Times New Roman"/>
                <a:sym typeface="Times New Roman"/>
              </a:rPr>
              <a:t>TABLE OF CONTENTS</a:t>
            </a:r>
            <a:endParaRPr sz="3200" b="1">
              <a:solidFill>
                <a:schemeClr val="dk1"/>
              </a:solidFill>
              <a:latin typeface="Times New Roman"/>
              <a:ea typeface="Times New Roman"/>
              <a:cs typeface="Times New Roman"/>
              <a:sym typeface="Times New Roman"/>
            </a:endParaRPr>
          </a:p>
        </p:txBody>
      </p:sp>
      <p:sp>
        <p:nvSpPr>
          <p:cNvPr id="111" name="Google Shape;11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2</a:t>
            </a:fld>
            <a:endParaRPr>
              <a:solidFill>
                <a:srgbClr val="002060"/>
              </a:solidFill>
              <a:latin typeface="Times New Roman"/>
              <a:ea typeface="Times New Roman"/>
              <a:cs typeface="Times New Roman"/>
              <a:sym typeface="Times New Roman"/>
            </a:endParaRPr>
          </a:p>
        </p:txBody>
      </p:sp>
      <p:sp>
        <p:nvSpPr>
          <p:cNvPr id="112" name="Google Shape;112;p2"/>
          <p:cNvSpPr txBox="1">
            <a:spLocks noGrp="1"/>
          </p:cNvSpPr>
          <p:nvPr>
            <p:ph type="ftr" idx="11"/>
          </p:nvPr>
        </p:nvSpPr>
        <p:spPr>
          <a:xfrm>
            <a:off x="0" y="6356350"/>
            <a:ext cx="6019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19" name="Google Shape;119;p3"/>
          <p:cNvSpPr txBox="1">
            <a:spLocks noGrp="1"/>
          </p:cNvSpPr>
          <p:nvPr>
            <p:ph type="body" idx="1"/>
          </p:nvPr>
        </p:nvSpPr>
        <p:spPr>
          <a:xfrm>
            <a:off x="0" y="1488275"/>
            <a:ext cx="9144000" cy="4526100"/>
          </a:xfrm>
          <a:prstGeom prst="rect">
            <a:avLst/>
          </a:prstGeom>
          <a:noFill/>
          <a:ln>
            <a:noFill/>
          </a:ln>
        </p:spPr>
        <p:txBody>
          <a:bodyPr spcFirstLastPara="1" wrap="square" lIns="91425" tIns="45700" rIns="91425" bIns="45700" anchor="t" anchorCtr="0">
            <a:normAutofit/>
          </a:bodyPr>
          <a:lstStyle/>
          <a:p>
            <a:pPr marL="0" marR="0" lvl="0" indent="-127000" algn="just" rtl="0">
              <a:lnSpc>
                <a:spcPct val="150000"/>
              </a:lnSpc>
              <a:spcBef>
                <a:spcPts val="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Shopping in stores can sometimes be tiring, especially when we have to push heavy carts, wait in long billing lines, or worry about touching shared surfaces. To solve these problems, we are creating a smart shopping basket that uses Artificial Intelligence (AI), sensors, and voice control. This basket will follow the customer on its own, listen to voice commands to add or remove items, and even help with fast billing and payment. It will make shopping easier, faster, and safer for everyone — especially for elderly people or those who have difficulty walking.</a:t>
            </a:r>
            <a:endParaRPr sz="2000">
              <a:latin typeface="Times New Roman"/>
              <a:ea typeface="Times New Roman"/>
              <a:cs typeface="Times New Roman"/>
              <a:sym typeface="Times New Roman"/>
            </a:endParaRPr>
          </a:p>
        </p:txBody>
      </p:sp>
      <p:sp>
        <p:nvSpPr>
          <p:cNvPr id="120" name="Google Shape;120;p3"/>
          <p:cNvSpPr txBox="1">
            <a:spLocks noGrp="1"/>
          </p:cNvSpPr>
          <p:nvPr>
            <p:ph type="ftr" idx="11"/>
          </p:nvPr>
        </p:nvSpPr>
        <p:spPr>
          <a:xfrm>
            <a:off x="0" y="6356350"/>
            <a:ext cx="6019800" cy="32617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
        <p:nvSpPr>
          <p:cNvPr id="121" name="Google Shape;121;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3</a:t>
            </a:fld>
            <a:endParaRPr>
              <a:solidFill>
                <a:srgbClr val="002060"/>
              </a:solidFill>
              <a:latin typeface="Times New Roman"/>
              <a:ea typeface="Times New Roman"/>
              <a:cs typeface="Times New Roman"/>
              <a:sym typeface="Times New Roman"/>
            </a:endParaRPr>
          </a:p>
        </p:txBody>
      </p:sp>
      <p:pic>
        <p:nvPicPr>
          <p:cNvPr id="122" name="Google Shape;122;p3"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23" name="Google Shape;123;p3"/>
          <p:cNvCxnSpPr/>
          <p:nvPr/>
        </p:nvCxnSpPr>
        <p:spPr>
          <a:xfrm>
            <a:off x="0" y="114298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24" name="Google Shape;124;p3"/>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25" name="Google Shape;125;p3"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26" name="Google Shape;126;p3"/>
          <p:cNvSpPr txBox="1"/>
          <p:nvPr/>
        </p:nvSpPr>
        <p:spPr>
          <a:xfrm>
            <a:off x="1285884" y="175479"/>
            <a:ext cx="678654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31859B"/>
                </a:solidFill>
                <a:latin typeface="Times New Roman"/>
                <a:ea typeface="Times New Roman"/>
                <a:cs typeface="Times New Roman"/>
                <a:sym typeface="Times New Roman"/>
              </a:rPr>
              <a:t>Introduction</a:t>
            </a:r>
            <a:endParaRPr sz="1800">
              <a:solidFill>
                <a:srgbClr val="31859B"/>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ctrTitle"/>
          </p:nvPr>
        </p:nvSpPr>
        <p:spPr>
          <a:xfrm>
            <a:off x="0" y="0"/>
            <a:ext cx="91440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33" name="Google Shape;133;p4"/>
          <p:cNvSpPr txBox="1">
            <a:spLocks noGrp="1"/>
          </p:cNvSpPr>
          <p:nvPr>
            <p:ph type="subTitle" idx="1"/>
          </p:nvPr>
        </p:nvSpPr>
        <p:spPr>
          <a:xfrm>
            <a:off x="-25" y="1071575"/>
            <a:ext cx="9144000" cy="5157900"/>
          </a:xfrm>
          <a:prstGeom prst="rect">
            <a:avLst/>
          </a:prstGeom>
          <a:noFill/>
          <a:ln>
            <a:noFill/>
          </a:ln>
        </p:spPr>
        <p:txBody>
          <a:bodyPr spcFirstLastPara="1" wrap="square" lIns="91425" tIns="45700" rIns="91425" bIns="45700" anchor="t" anchorCtr="0">
            <a:noAutofit/>
          </a:bodyPr>
          <a:lstStyle/>
          <a:p>
            <a:pPr marL="457200" lvl="0" indent="-463550" algn="just" rtl="0">
              <a:lnSpc>
                <a:spcPct val="130000"/>
              </a:lnSpc>
              <a:spcBef>
                <a:spcPts val="0"/>
              </a:spcBef>
              <a:spcAft>
                <a:spcPts val="0"/>
              </a:spcAft>
              <a:buClr>
                <a:schemeClr val="dk1"/>
              </a:buClr>
              <a:buSzPts val="2700"/>
              <a:buFont typeface="Arial"/>
              <a:buChar char="•"/>
            </a:pPr>
            <a:r>
              <a:rPr lang="en-US" sz="1900">
                <a:solidFill>
                  <a:schemeClr val="dk1"/>
                </a:solidFill>
                <a:latin typeface="Times New Roman"/>
                <a:ea typeface="Times New Roman"/>
                <a:cs typeface="Times New Roman"/>
                <a:sym typeface="Times New Roman"/>
              </a:rPr>
              <a:t>The AI-Powered Touchless Shopping Basket is a smart solution that makes shopping easier and more hygienic. It moves on its own and follows the customer around the store, so there’s no need to push it. The basket understands voice commands like “Add 1kg of rice” or “Remove the milk,” using voice recognition technology. As items are added, the basket automatically detects them and shows the total cost on a display screen. This helps customers keep track of their spending in real-time. At the end of shopping, payment can be done through UPI or mobile apps without touching anything. The system uses modern technologies like Artificial Intelligence (AI), Internet of Things (IoT), and sensors. It is designed to save time, improve convenience, and reduce physical contact. This is very useful in today’s world where hygiene and speed are important. The basket also helps elderly people and those with mobility issues shop independently.</a:t>
            </a:r>
            <a:endParaRPr sz="2000"/>
          </a:p>
          <a:p>
            <a:pPr marL="0" lvl="0" indent="0" algn="l" rtl="0">
              <a:lnSpc>
                <a:spcPct val="130000"/>
              </a:lnSpc>
              <a:spcBef>
                <a:spcPts val="0"/>
              </a:spcBef>
              <a:spcAft>
                <a:spcPts val="0"/>
              </a:spcAft>
              <a:buClr>
                <a:schemeClr val="dk1"/>
              </a:buClr>
              <a:buSzPts val="2600"/>
              <a:buNone/>
            </a:pPr>
            <a:endParaRPr sz="1800">
              <a:solidFill>
                <a:schemeClr val="dk1"/>
              </a:solidFill>
              <a:latin typeface="Times New Roman"/>
              <a:ea typeface="Times New Roman"/>
              <a:cs typeface="Times New Roman"/>
              <a:sym typeface="Times New Roman"/>
            </a:endParaRPr>
          </a:p>
        </p:txBody>
      </p:sp>
      <p:pic>
        <p:nvPicPr>
          <p:cNvPr id="134" name="Google Shape;134;p4"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35" name="Google Shape;135;p4"/>
          <p:cNvCxnSpPr/>
          <p:nvPr/>
        </p:nvCxnSpPr>
        <p:spPr>
          <a:xfrm>
            <a:off x="0" y="1142984"/>
            <a:ext cx="9144000" cy="1500"/>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36" name="Google Shape;136;p4"/>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37" name="Google Shape;137;p4"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38" name="Google Shape;1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4</a:t>
            </a:fld>
            <a:endParaRPr>
              <a:solidFill>
                <a:srgbClr val="002060"/>
              </a:solidFill>
              <a:latin typeface="Times New Roman"/>
              <a:ea typeface="Times New Roman"/>
              <a:cs typeface="Times New Roman"/>
              <a:sym typeface="Times New Roman"/>
            </a:endParaRPr>
          </a:p>
        </p:txBody>
      </p:sp>
      <p:sp>
        <p:nvSpPr>
          <p:cNvPr id="139" name="Google Shape;139;p4"/>
          <p:cNvSpPr txBox="1">
            <a:spLocks noGrp="1"/>
          </p:cNvSpPr>
          <p:nvPr>
            <p:ph type="ftr" idx="11"/>
          </p:nvPr>
        </p:nvSpPr>
        <p:spPr>
          <a:xfrm>
            <a:off x="0" y="6356350"/>
            <a:ext cx="6019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
        <p:nvSpPr>
          <p:cNvPr id="140" name="Google Shape;140;p4"/>
          <p:cNvSpPr txBox="1"/>
          <p:nvPr/>
        </p:nvSpPr>
        <p:spPr>
          <a:xfrm>
            <a:off x="1078334" y="146041"/>
            <a:ext cx="67866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31859B"/>
                </a:solidFill>
                <a:latin typeface="Times New Roman"/>
                <a:ea typeface="Times New Roman"/>
                <a:cs typeface="Times New Roman"/>
                <a:sym typeface="Times New Roman"/>
              </a:rPr>
              <a:t>Abstract</a:t>
            </a:r>
            <a:endParaRPr sz="1800">
              <a:solidFill>
                <a:srgbClr val="31859B"/>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5"/>
          <p:cNvSpPr txBox="1">
            <a:spLocks noGrp="1"/>
          </p:cNvSpPr>
          <p:nvPr>
            <p:ph type="ctrTitle"/>
          </p:nvPr>
        </p:nvSpPr>
        <p:spPr>
          <a:xfrm>
            <a:off x="0" y="0"/>
            <a:ext cx="91440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47" name="Google Shape;147;p5"/>
          <p:cNvSpPr txBox="1">
            <a:spLocks noGrp="1"/>
          </p:cNvSpPr>
          <p:nvPr>
            <p:ph type="subTitle" idx="1"/>
          </p:nvPr>
        </p:nvSpPr>
        <p:spPr>
          <a:xfrm>
            <a:off x="0" y="1285860"/>
            <a:ext cx="9144000" cy="464347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600"/>
              <a:buNone/>
            </a:pPr>
            <a:endParaRPr sz="1800" b="1">
              <a:solidFill>
                <a:schemeClr val="dk1"/>
              </a:solidFill>
              <a:latin typeface="Times New Roman"/>
              <a:ea typeface="Times New Roman"/>
              <a:cs typeface="Times New Roman"/>
              <a:sym typeface="Times New Roman"/>
            </a:endParaRPr>
          </a:p>
          <a:p>
            <a:pPr marL="0" lvl="0" indent="0" algn="just" rtl="0">
              <a:lnSpc>
                <a:spcPct val="150000"/>
              </a:lnSpc>
              <a:spcBef>
                <a:spcPts val="0"/>
              </a:spcBef>
              <a:spcAft>
                <a:spcPts val="0"/>
              </a:spcAft>
              <a:buClr>
                <a:schemeClr val="dk1"/>
              </a:buClr>
              <a:buSzPts val="2600"/>
              <a:buNone/>
            </a:pPr>
            <a:r>
              <a:rPr lang="en-US" sz="2000" b="1">
                <a:solidFill>
                  <a:schemeClr val="dk1"/>
                </a:solidFill>
                <a:latin typeface="Times New Roman"/>
                <a:ea typeface="Times New Roman"/>
                <a:cs typeface="Times New Roman"/>
                <a:sym typeface="Times New Roman"/>
              </a:rPr>
              <a:t>Problem Statement:-</a:t>
            </a:r>
            <a:endParaRPr/>
          </a:p>
          <a:p>
            <a:pPr marL="0" lvl="0" indent="0" algn="just" rtl="0">
              <a:lnSpc>
                <a:spcPct val="150000"/>
              </a:lnSpc>
              <a:spcBef>
                <a:spcPts val="0"/>
              </a:spcBef>
              <a:spcAft>
                <a:spcPts val="0"/>
              </a:spcAft>
              <a:buClr>
                <a:schemeClr val="dk1"/>
              </a:buClr>
              <a:buSzPts val="2600"/>
              <a:buNone/>
            </a:pPr>
            <a:r>
              <a:rPr lang="en-US" sz="1900">
                <a:solidFill>
                  <a:schemeClr val="dk1"/>
                </a:solidFill>
                <a:latin typeface="Times New Roman"/>
                <a:ea typeface="Times New Roman"/>
                <a:cs typeface="Times New Roman"/>
                <a:sym typeface="Times New Roman"/>
              </a:rPr>
              <a:t>In regular stores, people have to push carts, stand in long queues to pay, and touch many things, which can be tiring and unhygienic. Some people, like the elderly or those with health issues, may find this even harder. Also, the checkout process can be slow and frustrating. There is a need for a smarter, hands-free way to shop that saves time and effort</a:t>
            </a:r>
            <a:endParaRPr sz="1900">
              <a:solidFill>
                <a:schemeClr val="dk1"/>
              </a:solidFill>
              <a:latin typeface="Times New Roman"/>
              <a:ea typeface="Times New Roman"/>
              <a:cs typeface="Times New Roman"/>
              <a:sym typeface="Times New Roman"/>
            </a:endParaRPr>
          </a:p>
        </p:txBody>
      </p:sp>
      <p:pic>
        <p:nvPicPr>
          <p:cNvPr id="148" name="Google Shape;148;p5"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49" name="Google Shape;149;p5"/>
          <p:cNvCxnSpPr/>
          <p:nvPr/>
        </p:nvCxnSpPr>
        <p:spPr>
          <a:xfrm>
            <a:off x="0" y="114298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50" name="Google Shape;150;p5"/>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51" name="Google Shape;151;p5"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52" name="Google Shape;15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5</a:t>
            </a:fld>
            <a:endParaRPr>
              <a:solidFill>
                <a:srgbClr val="002060"/>
              </a:solidFill>
              <a:latin typeface="Times New Roman"/>
              <a:ea typeface="Times New Roman"/>
              <a:cs typeface="Times New Roman"/>
              <a:sym typeface="Times New Roman"/>
            </a:endParaRPr>
          </a:p>
        </p:txBody>
      </p:sp>
      <p:sp>
        <p:nvSpPr>
          <p:cNvPr id="153" name="Google Shape;153;p5"/>
          <p:cNvSpPr txBox="1">
            <a:spLocks noGrp="1"/>
          </p:cNvSpPr>
          <p:nvPr>
            <p:ph type="ftr" idx="11"/>
          </p:nvPr>
        </p:nvSpPr>
        <p:spPr>
          <a:xfrm>
            <a:off x="0" y="6356350"/>
            <a:ext cx="6019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
        <p:nvSpPr>
          <p:cNvPr id="154" name="Google Shape;154;p5"/>
          <p:cNvSpPr txBox="1"/>
          <p:nvPr/>
        </p:nvSpPr>
        <p:spPr>
          <a:xfrm>
            <a:off x="1285884" y="175479"/>
            <a:ext cx="678654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31859B"/>
                </a:solidFill>
                <a:latin typeface="Times New Roman"/>
                <a:ea typeface="Times New Roman"/>
                <a:cs typeface="Times New Roman"/>
                <a:sym typeface="Times New Roman"/>
              </a:rPr>
              <a:t>Problem Statement</a:t>
            </a:r>
            <a:endParaRPr sz="1800">
              <a:solidFill>
                <a:srgbClr val="31859B"/>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61" name="Google Shape;161;p6"/>
          <p:cNvSpPr txBox="1">
            <a:spLocks noGrp="1"/>
          </p:cNvSpPr>
          <p:nvPr>
            <p:ph type="body" idx="1"/>
          </p:nvPr>
        </p:nvSpPr>
        <p:spPr>
          <a:xfrm>
            <a:off x="0" y="1170729"/>
            <a:ext cx="9144000" cy="5190425"/>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en-US" sz="1900">
                <a:latin typeface="Times New Roman"/>
                <a:ea typeface="Times New Roman"/>
                <a:cs typeface="Times New Roman"/>
                <a:sym typeface="Times New Roman"/>
              </a:rPr>
              <a:t>The main goals of this project are:</a:t>
            </a:r>
            <a:endParaRPr sz="1900">
              <a:latin typeface="Times New Roman"/>
              <a:ea typeface="Times New Roman"/>
              <a:cs typeface="Times New Roman"/>
              <a:sym typeface="Times New Roman"/>
            </a:endParaRPr>
          </a:p>
          <a:p>
            <a:pPr marL="457200" lvl="0" indent="-349250" algn="l" rtl="0">
              <a:lnSpc>
                <a:spcPct val="115000"/>
              </a:lnSpc>
              <a:spcBef>
                <a:spcPts val="1200"/>
              </a:spcBef>
              <a:spcAft>
                <a:spcPts val="0"/>
              </a:spcAft>
              <a:buSzPts val="1900"/>
              <a:buAutoNum type="arabicPeriod"/>
            </a:pPr>
            <a:r>
              <a:rPr lang="en-US" sz="1900" b="1">
                <a:latin typeface="Times New Roman"/>
                <a:ea typeface="Times New Roman"/>
                <a:cs typeface="Times New Roman"/>
                <a:sym typeface="Times New Roman"/>
              </a:rPr>
              <a:t>Self-Moving Basket</a:t>
            </a:r>
            <a:r>
              <a:rPr lang="en-US" sz="1900">
                <a:latin typeface="Times New Roman"/>
                <a:ea typeface="Times New Roman"/>
                <a:cs typeface="Times New Roman"/>
                <a:sym typeface="Times New Roman"/>
              </a:rPr>
              <a:t> – To create a basket that follows the customer without needing to push it.</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AutoNum type="arabicPeriod"/>
            </a:pPr>
            <a:r>
              <a:rPr lang="en-US" sz="1900" b="1">
                <a:latin typeface="Times New Roman"/>
                <a:ea typeface="Times New Roman"/>
                <a:cs typeface="Times New Roman"/>
                <a:sym typeface="Times New Roman"/>
              </a:rPr>
              <a:t>Voice Commands</a:t>
            </a:r>
            <a:r>
              <a:rPr lang="en-US" sz="1900">
                <a:latin typeface="Times New Roman"/>
                <a:ea typeface="Times New Roman"/>
                <a:cs typeface="Times New Roman"/>
                <a:sym typeface="Times New Roman"/>
              </a:rPr>
              <a:t> – To add or remove items using voice, like saying “Add 1 kg apples.”</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AutoNum type="arabicPeriod"/>
            </a:pPr>
            <a:r>
              <a:rPr lang="en-US" sz="1900" b="1">
                <a:latin typeface="Times New Roman"/>
                <a:ea typeface="Times New Roman"/>
                <a:cs typeface="Times New Roman"/>
                <a:sym typeface="Times New Roman"/>
              </a:rPr>
              <a:t>Auto Billing</a:t>
            </a:r>
            <a:r>
              <a:rPr lang="en-US" sz="1900">
                <a:latin typeface="Times New Roman"/>
                <a:ea typeface="Times New Roman"/>
                <a:cs typeface="Times New Roman"/>
                <a:sym typeface="Times New Roman"/>
              </a:rPr>
              <a:t> – To show the total price of the items in real time.</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AutoNum type="arabicPeriod"/>
            </a:pPr>
            <a:r>
              <a:rPr lang="en-US" sz="1900" b="1">
                <a:latin typeface="Times New Roman"/>
                <a:ea typeface="Times New Roman"/>
                <a:cs typeface="Times New Roman"/>
                <a:sym typeface="Times New Roman"/>
              </a:rPr>
              <a:t>Touch-Free Payment</a:t>
            </a:r>
            <a:r>
              <a:rPr lang="en-US" sz="1900">
                <a:latin typeface="Times New Roman"/>
                <a:ea typeface="Times New Roman"/>
                <a:cs typeface="Times New Roman"/>
                <a:sym typeface="Times New Roman"/>
              </a:rPr>
              <a:t> – To make payments without touching anything, using UPI or apps.</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AutoNum type="arabicPeriod"/>
            </a:pPr>
            <a:r>
              <a:rPr lang="en-US" sz="1900" b="1">
                <a:latin typeface="Times New Roman"/>
                <a:ea typeface="Times New Roman"/>
                <a:cs typeface="Times New Roman"/>
                <a:sym typeface="Times New Roman"/>
              </a:rPr>
              <a:t>Help for All</a:t>
            </a:r>
            <a:r>
              <a:rPr lang="en-US" sz="1900">
                <a:latin typeface="Times New Roman"/>
                <a:ea typeface="Times New Roman"/>
                <a:cs typeface="Times New Roman"/>
                <a:sym typeface="Times New Roman"/>
              </a:rPr>
              <a:t> – To make shopping easier for people who have trouble moving.</a:t>
            </a:r>
            <a:endParaRPr sz="1900">
              <a:latin typeface="Times New Roman"/>
              <a:ea typeface="Times New Roman"/>
              <a:cs typeface="Times New Roman"/>
              <a:sym typeface="Times New Roman"/>
            </a:endParaRPr>
          </a:p>
          <a:p>
            <a:pPr marL="0" marR="0" lvl="0" indent="-152400" algn="l" rtl="0">
              <a:lnSpc>
                <a:spcPct val="150000"/>
              </a:lnSpc>
              <a:spcBef>
                <a:spcPts val="0"/>
              </a:spcBef>
              <a:spcAft>
                <a:spcPts val="0"/>
              </a:spcAft>
              <a:buSzPts val="2400"/>
              <a:buFont typeface="Times New Roman"/>
              <a:buChar char="•"/>
            </a:pPr>
            <a:endParaRPr sz="2400" b="1">
              <a:latin typeface="Times New Roman"/>
              <a:ea typeface="Times New Roman"/>
              <a:cs typeface="Times New Roman"/>
              <a:sym typeface="Times New Roman"/>
            </a:endParaRPr>
          </a:p>
        </p:txBody>
      </p:sp>
      <p:sp>
        <p:nvSpPr>
          <p:cNvPr id="162" name="Google Shape;162;p6"/>
          <p:cNvSpPr txBox="1">
            <a:spLocks noGrp="1"/>
          </p:cNvSpPr>
          <p:nvPr>
            <p:ph type="ftr" idx="11"/>
          </p:nvPr>
        </p:nvSpPr>
        <p:spPr>
          <a:xfrm>
            <a:off x="0" y="6356350"/>
            <a:ext cx="6019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
        <p:nvSpPr>
          <p:cNvPr id="163" name="Google Shape;16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6</a:t>
            </a:fld>
            <a:endParaRPr>
              <a:solidFill>
                <a:srgbClr val="002060"/>
              </a:solidFill>
              <a:latin typeface="Times New Roman"/>
              <a:ea typeface="Times New Roman"/>
              <a:cs typeface="Times New Roman"/>
              <a:sym typeface="Times New Roman"/>
            </a:endParaRPr>
          </a:p>
        </p:txBody>
      </p:sp>
      <p:pic>
        <p:nvPicPr>
          <p:cNvPr id="164" name="Google Shape;164;p6"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65" name="Google Shape;165;p6"/>
          <p:cNvCxnSpPr/>
          <p:nvPr/>
        </p:nvCxnSpPr>
        <p:spPr>
          <a:xfrm>
            <a:off x="0" y="114298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66" name="Google Shape;166;p6"/>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67" name="Google Shape;167;p6"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68" name="Google Shape;168;p6"/>
          <p:cNvSpPr txBox="1"/>
          <p:nvPr/>
        </p:nvSpPr>
        <p:spPr>
          <a:xfrm>
            <a:off x="1285884" y="175479"/>
            <a:ext cx="678654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31859B"/>
                </a:solidFill>
                <a:latin typeface="Times New Roman"/>
                <a:ea typeface="Times New Roman"/>
                <a:cs typeface="Times New Roman"/>
                <a:sym typeface="Times New Roman"/>
              </a:rPr>
              <a:t>Objective</a:t>
            </a:r>
            <a:endParaRPr sz="1800">
              <a:solidFill>
                <a:srgbClr val="31859B"/>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1000"/>
              <a:buFont typeface="Times New Roman"/>
              <a:buNone/>
            </a:pPr>
            <a:r>
              <a:rPr lang="en-US" sz="1000" b="1">
                <a:solidFill>
                  <a:srgbClr val="262626"/>
                </a:solidFill>
                <a:latin typeface="Times New Roman"/>
                <a:ea typeface="Times New Roman"/>
                <a:cs typeface="Times New Roman"/>
                <a:sym typeface="Times New Roman"/>
              </a:rPr>
              <a:t>.</a:t>
            </a:r>
            <a:br>
              <a:rPr lang="en-US" sz="1000" b="1">
                <a:latin typeface="Times New Roman"/>
                <a:ea typeface="Times New Roman"/>
                <a:cs typeface="Times New Roman"/>
                <a:sym typeface="Times New Roman"/>
              </a:rPr>
            </a:br>
            <a:endParaRPr sz="1000"/>
          </a:p>
        </p:txBody>
      </p:sp>
      <p:sp>
        <p:nvSpPr>
          <p:cNvPr id="175" name="Google Shape;175;p7"/>
          <p:cNvSpPr txBox="1">
            <a:spLocks noGrp="1"/>
          </p:cNvSpPr>
          <p:nvPr>
            <p:ph type="body" idx="1"/>
          </p:nvPr>
        </p:nvSpPr>
        <p:spPr>
          <a:xfrm>
            <a:off x="0" y="1170730"/>
            <a:ext cx="8686800" cy="4955434"/>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en-US" sz="1900" b="1">
                <a:latin typeface="Times New Roman"/>
                <a:ea typeface="Times New Roman"/>
                <a:cs typeface="Times New Roman"/>
                <a:sym typeface="Times New Roman"/>
              </a:rPr>
              <a:t>To build the AI-powered shopping basket, we use:</a:t>
            </a:r>
            <a:endParaRPr sz="1900" b="1">
              <a:latin typeface="Times New Roman"/>
              <a:ea typeface="Times New Roman"/>
              <a:cs typeface="Times New Roman"/>
              <a:sym typeface="Times New Roman"/>
            </a:endParaRPr>
          </a:p>
          <a:p>
            <a:pPr marL="457200" lvl="0" indent="-349250" algn="l" rtl="0">
              <a:lnSpc>
                <a:spcPct val="115000"/>
              </a:lnSpc>
              <a:spcBef>
                <a:spcPts val="1200"/>
              </a:spcBef>
              <a:spcAft>
                <a:spcPts val="0"/>
              </a:spcAft>
              <a:buSzPts val="1900"/>
              <a:buChar char="●"/>
            </a:pPr>
            <a:r>
              <a:rPr lang="en-US" sz="1900" b="1">
                <a:latin typeface="Times New Roman"/>
                <a:ea typeface="Times New Roman"/>
                <a:cs typeface="Times New Roman"/>
                <a:sym typeface="Times New Roman"/>
              </a:rPr>
              <a:t>AI and Sensors</a:t>
            </a:r>
            <a:r>
              <a:rPr lang="en-US" sz="1900">
                <a:latin typeface="Times New Roman"/>
                <a:ea typeface="Times New Roman"/>
                <a:cs typeface="Times New Roman"/>
                <a:sym typeface="Times New Roman"/>
              </a:rPr>
              <a:t>: To help the basket move on its own and avoid obstacles.</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Char char="●"/>
            </a:pPr>
            <a:r>
              <a:rPr lang="en-US" sz="1900" b="1">
                <a:latin typeface="Times New Roman"/>
                <a:ea typeface="Times New Roman"/>
                <a:cs typeface="Times New Roman"/>
                <a:sym typeface="Times New Roman"/>
              </a:rPr>
              <a:t>Voice Recognition</a:t>
            </a:r>
            <a:r>
              <a:rPr lang="en-US" sz="1900">
                <a:latin typeface="Times New Roman"/>
                <a:ea typeface="Times New Roman"/>
                <a:cs typeface="Times New Roman"/>
                <a:sym typeface="Times New Roman"/>
              </a:rPr>
              <a:t>: So the basket can understand what the customer says.</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Char char="●"/>
            </a:pPr>
            <a:r>
              <a:rPr lang="en-US" sz="1900" b="1">
                <a:latin typeface="Times New Roman"/>
                <a:ea typeface="Times New Roman"/>
                <a:cs typeface="Times New Roman"/>
                <a:sym typeface="Times New Roman"/>
              </a:rPr>
              <a:t>Cameras and RFID</a:t>
            </a:r>
            <a:r>
              <a:rPr lang="en-US" sz="1900">
                <a:latin typeface="Times New Roman"/>
                <a:ea typeface="Times New Roman"/>
                <a:cs typeface="Times New Roman"/>
                <a:sym typeface="Times New Roman"/>
              </a:rPr>
              <a:t>: To recognize the products added to the basket.</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Char char="●"/>
            </a:pPr>
            <a:r>
              <a:rPr lang="en-US" sz="1900" b="1">
                <a:latin typeface="Times New Roman"/>
                <a:ea typeface="Times New Roman"/>
                <a:cs typeface="Times New Roman"/>
                <a:sym typeface="Times New Roman"/>
              </a:rPr>
              <a:t>Billing System</a:t>
            </a:r>
            <a:r>
              <a:rPr lang="en-US" sz="1900">
                <a:latin typeface="Times New Roman"/>
                <a:ea typeface="Times New Roman"/>
                <a:cs typeface="Times New Roman"/>
                <a:sym typeface="Times New Roman"/>
              </a:rPr>
              <a:t>: To show the total cost of items instantly.</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Char char="●"/>
            </a:pPr>
            <a:r>
              <a:rPr lang="en-US" sz="1900" b="1">
                <a:latin typeface="Times New Roman"/>
                <a:ea typeface="Times New Roman"/>
                <a:cs typeface="Times New Roman"/>
                <a:sym typeface="Times New Roman"/>
              </a:rPr>
              <a:t>Payment System</a:t>
            </a:r>
            <a:r>
              <a:rPr lang="en-US" sz="1900">
                <a:latin typeface="Times New Roman"/>
                <a:ea typeface="Times New Roman"/>
                <a:cs typeface="Times New Roman"/>
                <a:sym typeface="Times New Roman"/>
              </a:rPr>
              <a:t>: For easy checkout using mobile apps or UPI.</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marL="457200" lvl="0" indent="-349250" algn="l" rtl="0">
              <a:lnSpc>
                <a:spcPct val="115000"/>
              </a:lnSpc>
              <a:spcBef>
                <a:spcPts val="0"/>
              </a:spcBef>
              <a:spcAft>
                <a:spcPts val="0"/>
              </a:spcAft>
              <a:buSzPts val="1900"/>
              <a:buChar char="●"/>
            </a:pPr>
            <a:r>
              <a:rPr lang="en-US" sz="1900" b="1">
                <a:latin typeface="Times New Roman"/>
                <a:ea typeface="Times New Roman"/>
                <a:cs typeface="Times New Roman"/>
                <a:sym typeface="Times New Roman"/>
              </a:rPr>
              <a:t>Safety Features</a:t>
            </a:r>
            <a:r>
              <a:rPr lang="en-US" sz="1900">
                <a:latin typeface="Times New Roman"/>
                <a:ea typeface="Times New Roman"/>
                <a:cs typeface="Times New Roman"/>
                <a:sym typeface="Times New Roman"/>
              </a:rPr>
              <a:t>: To alert if someone tries to take items without paying.</a:t>
            </a:r>
            <a:endParaRPr sz="1900">
              <a:latin typeface="Times New Roman"/>
              <a:ea typeface="Times New Roman"/>
              <a:cs typeface="Times New Roman"/>
              <a:sym typeface="Times New Roman"/>
            </a:endParaRPr>
          </a:p>
          <a:p>
            <a:pPr marL="0" marR="0" lvl="0" indent="-114300" algn="just" rtl="0">
              <a:lnSpc>
                <a:spcPct val="150000"/>
              </a:lnSpc>
              <a:spcBef>
                <a:spcPts val="0"/>
              </a:spcBef>
              <a:spcAft>
                <a:spcPts val="0"/>
              </a:spcAft>
              <a:buSzPts val="1800"/>
              <a:buFont typeface="Times New Roman"/>
              <a:buChar char="•"/>
            </a:pPr>
            <a:endParaRPr sz="1800">
              <a:latin typeface="Times New Roman"/>
              <a:ea typeface="Times New Roman"/>
              <a:cs typeface="Times New Roman"/>
              <a:sym typeface="Times New Roman"/>
            </a:endParaRPr>
          </a:p>
        </p:txBody>
      </p:sp>
      <p:sp>
        <p:nvSpPr>
          <p:cNvPr id="176" name="Google Shape;176;p7"/>
          <p:cNvSpPr txBox="1">
            <a:spLocks noGrp="1"/>
          </p:cNvSpPr>
          <p:nvPr>
            <p:ph type="ftr" idx="11"/>
          </p:nvPr>
        </p:nvSpPr>
        <p:spPr>
          <a:xfrm>
            <a:off x="0" y="6356350"/>
            <a:ext cx="6019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AI-Powered Touchless Shopping Basket</a:t>
            </a:r>
            <a:endParaRPr sz="1400" dirty="0">
              <a:solidFill>
                <a:schemeClr val="dk1"/>
              </a:solidFill>
              <a:latin typeface="Times New Roman"/>
              <a:ea typeface="Times New Roman"/>
              <a:cs typeface="Times New Roman"/>
              <a:sym typeface="Times New Roman"/>
            </a:endParaRPr>
          </a:p>
        </p:txBody>
      </p:sp>
      <p:sp>
        <p:nvSpPr>
          <p:cNvPr id="177" name="Google Shape;177;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2060"/>
                </a:solidFill>
                <a:latin typeface="Times New Roman"/>
                <a:ea typeface="Times New Roman"/>
                <a:cs typeface="Times New Roman"/>
                <a:sym typeface="Times New Roman"/>
              </a:rPr>
              <a:t>7</a:t>
            </a:fld>
            <a:endParaRPr>
              <a:solidFill>
                <a:srgbClr val="002060"/>
              </a:solidFill>
              <a:latin typeface="Times New Roman"/>
              <a:ea typeface="Times New Roman"/>
              <a:cs typeface="Times New Roman"/>
              <a:sym typeface="Times New Roman"/>
            </a:endParaRPr>
          </a:p>
        </p:txBody>
      </p:sp>
      <p:pic>
        <p:nvPicPr>
          <p:cNvPr id="178" name="Google Shape;178;p7" descr="C:\Users\welco_koih58\OneDrive\Desktop\download.jpg"/>
          <p:cNvPicPr preferRelativeResize="0"/>
          <p:nvPr/>
        </p:nvPicPr>
        <p:blipFill rotWithShape="1">
          <a:blip r:embed="rId3">
            <a:alphaModFix/>
          </a:blip>
          <a:srcRect/>
          <a:stretch/>
        </p:blipFill>
        <p:spPr>
          <a:xfrm>
            <a:off x="0" y="0"/>
            <a:ext cx="1285884" cy="1071570"/>
          </a:xfrm>
          <a:prstGeom prst="rect">
            <a:avLst/>
          </a:prstGeom>
          <a:noFill/>
          <a:ln>
            <a:noFill/>
          </a:ln>
        </p:spPr>
      </p:pic>
      <p:cxnSp>
        <p:nvCxnSpPr>
          <p:cNvPr id="179" name="Google Shape;179;p7"/>
          <p:cNvCxnSpPr/>
          <p:nvPr/>
        </p:nvCxnSpPr>
        <p:spPr>
          <a:xfrm>
            <a:off x="0" y="1142984"/>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cxnSp>
        <p:nvCxnSpPr>
          <p:cNvPr id="180" name="Google Shape;180;p7"/>
          <p:cNvCxnSpPr/>
          <p:nvPr/>
        </p:nvCxnSpPr>
        <p:spPr>
          <a:xfrm>
            <a:off x="0" y="6357958"/>
            <a:ext cx="9144000" cy="1588"/>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pic>
        <p:nvPicPr>
          <p:cNvPr id="181" name="Google Shape;181;p7" descr="Home - Information Science and Engineering"/>
          <p:cNvPicPr preferRelativeResize="0"/>
          <p:nvPr/>
        </p:nvPicPr>
        <p:blipFill rotWithShape="1">
          <a:blip r:embed="rId4">
            <a:alphaModFix/>
          </a:blip>
          <a:srcRect/>
          <a:stretch/>
        </p:blipFill>
        <p:spPr>
          <a:xfrm>
            <a:off x="8072430" y="0"/>
            <a:ext cx="1071570" cy="1000108"/>
          </a:xfrm>
          <a:prstGeom prst="rect">
            <a:avLst/>
          </a:prstGeom>
          <a:noFill/>
          <a:ln>
            <a:noFill/>
          </a:ln>
        </p:spPr>
      </p:pic>
      <p:sp>
        <p:nvSpPr>
          <p:cNvPr id="182" name="Google Shape;182;p7"/>
          <p:cNvSpPr txBox="1"/>
          <p:nvPr/>
        </p:nvSpPr>
        <p:spPr>
          <a:xfrm>
            <a:off x="1285884" y="175479"/>
            <a:ext cx="678654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31859B"/>
                </a:solidFill>
                <a:latin typeface="Times New Roman"/>
                <a:ea typeface="Times New Roman"/>
                <a:cs typeface="Times New Roman"/>
                <a:sym typeface="Times New Roman"/>
              </a:rPr>
              <a:t>Methodology</a:t>
            </a:r>
            <a:endParaRPr sz="1800">
              <a:solidFill>
                <a:srgbClr val="31859B"/>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764</Words>
  <Application>Microsoft Office PowerPoint</Application>
  <PresentationFormat>On-screen Show (4:3)</PresentationFormat>
  <Paragraphs>77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||Jai Sri Gurudev || Adichunchanagiri Shikshana Trust(R.) SJC INSTITUTE OF TECHNOLOGY An Autonomous Institution under VTU from 2024-25 AICTE Approved, Accredited by NBA(CSE,ISE,ECE,ME,CV,AE) NAAC with A+ grade, QS I-Gauge Gold rated  P.B. No. 20, B.B. Road, Chikkaballapur- 562101, Karnataka.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Shravani R</dc:creator>
  <cp:lastModifiedBy>Pushpak Chakraborty</cp:lastModifiedBy>
  <cp:revision>1</cp:revision>
  <dcterms:created xsi:type="dcterms:W3CDTF">2024-11-26T16:02:16Z</dcterms:created>
  <dcterms:modified xsi:type="dcterms:W3CDTF">2025-05-19T06:58:10Z</dcterms:modified>
</cp:coreProperties>
</file>